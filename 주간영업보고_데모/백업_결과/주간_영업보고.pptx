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7"/>
    <p:sldId id="257" r:id="rId6"/>
    <p:sldId id="258" r:id="rId5"/>
    <p:sldId id="259" r:id="rId4"/>
    <p:sldId id="260" r:id="rId3"/>
  </p:sldIdLst>
  <p:sldSz cx="12192000" cy="6858000"/>
  <p:notesSz cx="6858000" cy="9144000"/>
  <p:embeddedFontLst>
    <p:embeddedFont>
      <p:font typeface="Noto Sans KR" panose="020B0500000000000000" pitchFamily="50" charset="-127"/>
      <p:regular r:id="rId8"/>
      <p:bold r:id="rId9"/>
    </p:embeddedFont>
    <p:embeddedFont>
      <p:font typeface="Noto Sans KR Black" panose="020B0A00000000000000" pitchFamily="50" charset="-127"/>
      <p:bold r:id="rId10"/>
    </p:embeddedFont>
    <p:embeddedFont>
      <p:font typeface="Noto Sans KR Medium" panose="020B0600000000000000" pitchFamily="50" charset="-127"/>
      <p:regular r:id="rId11"/>
    </p:embeddedFont>
    <p:embeddedFont>
      <p:font typeface="Noto Sans Black" panose="020B0600000101010101" charset="0"/>
      <p:bold r:id="rId12"/>
    </p:embeddedFont>
    <p:embeddedFont>
      <p:font typeface="Noto Sans Medium" panose="020B0600000101010101" charset="0"/>
      <p:regular r:id="rId1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2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0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활동 건수</c:v>
                </c:pt>
              </c:strCache>
            </c:strRef>
          </c:tx>
          <c:spPr>
            <a:solidFill>
              <a:srgbClr val="FF8B00"/>
            </a:solidFill>
          </c:spPr>
          <c:cat>
            <c:strRef>
              <c:f>Sheet1!$A$2:$A$8</c:f>
              <c:strCache>
                <c:ptCount val="7"/>
                <c:pt idx="0">
                  <c:v>07/13</c:v>
                </c:pt>
                <c:pt idx="1">
                  <c:v>07/14</c:v>
                </c:pt>
                <c:pt idx="2">
                  <c:v>07/15</c:v>
                </c:pt>
                <c:pt idx="3">
                  <c:v>07/16</c:v>
                </c:pt>
                <c:pt idx="4">
                  <c:v>07/17</c:v>
                </c:pt>
                <c:pt idx="5">
                  <c:v>07/18</c:v>
                </c:pt>
                <c:pt idx="6">
                  <c:v>07/19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KR Medium"/>
                <a:ea typeface="Noto Sans KR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Noto Sans KR Medium"/>
                <a:ea typeface="Noto Sans KR Medium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ea typeface="Noto Sans KR Medium"/>
        </a:defRPr>
      </a:pPr>
      <a:endParaRPr lang="en-US">
        <a:ea typeface="Noto Sans KR Medium"/>
      </a:endParaR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상담 건수</c:v>
                </c:pt>
              </c:strCache>
            </c:strRef>
          </c:tx>
          <c:spPr>
            <a:solidFill>
              <a:srgbClr val="A6CF00"/>
            </a:solidFill>
          </c:spPr>
          <c:cat>
            <c:strRef>
              <c:f>Sheet1!$A$2:$A$6</c:f>
              <c:strCache>
                <c:ptCount val="5"/>
                <c:pt idx="0">
                  <c:v>전동침대</c:v>
                </c:pt>
                <c:pt idx="1">
                  <c:v>휠체어</c:v>
                </c:pt>
                <c:pt idx="2">
                  <c:v>목욕의자</c:v>
                </c:pt>
                <c:pt idx="3">
                  <c:v>안전손잡이</c:v>
                </c:pt>
                <c:pt idx="4">
                  <c:v>보행기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8</c:v>
                </c:pt>
                <c:pt idx="4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KR Medium"/>
                <a:ea typeface="Noto Sans KR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Noto Sans KR Medium"/>
                <a:ea typeface="Noto Sans KR Medium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ea typeface="Noto Sans KR Medium"/>
        </a:defRPr>
      </a:pPr>
      <a:endParaRPr lang="en-US">
        <a:ea typeface="Noto Sans KR Medium"/>
      </a:endParaR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1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활동</c:v>
                </c:pt>
              </c:strCache>
            </c:strRef>
          </c:tx>
          <c:spPr>
            <a:solidFill>
              <a:srgbClr val="FF8B00"/>
            </a:solidFill>
          </c:spPr>
          <c:dPt>
            <c:idx val="0"/>
            <c:spPr>
              <a:solidFill>
                <a:srgbClr val="FF8B00"/>
              </a:solidFill>
            </c:spPr>
          </c:dPt>
          <c:dPt>
            <c:idx val="1"/>
            <c:spPr>
              <a:solidFill>
                <a:srgbClr val="A6CF00"/>
              </a:solidFill>
            </c:spPr>
          </c:dPt>
          <c:dPt>
            <c:idx val="2"/>
            <c:spPr>
              <a:solidFill>
                <a:srgbClr val="A6A6A6"/>
              </a:solidFill>
            </c:spPr>
          </c:dPt>
          <c:dPt>
            <c:idx val="3"/>
            <c:spPr>
              <a:solidFill>
                <a:srgbClr val="FFBE66"/>
              </a:solidFill>
            </c:spPr>
          </c:dPt>
          <c:dPt>
            <c:idx val="4"/>
            <c:spPr>
              <a:solidFill>
                <a:srgbClr val="7EB300"/>
              </a:solidFill>
            </c:spPr>
          </c:dPt>
          <c:cat>
            <c:strRef>
              <c:f>Sheet1!$A$2:$A$6</c:f>
              <c:strCache>
                <c:ptCount val="5"/>
                <c:pt idx="0">
                  <c:v>상담 중</c:v>
                </c:pt>
                <c:pt idx="1">
                  <c:v>검토 중</c:v>
                </c:pt>
                <c:pt idx="2">
                  <c:v>견적 예정</c:v>
                </c:pt>
                <c:pt idx="3">
                  <c:v>신규 접촉</c:v>
                </c:pt>
                <c:pt idx="4">
                  <c:v>계약 완료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6</c:v>
                </c:pt>
                <c:pt idx="2">
                  <c:v>6</c:v>
                </c:pt>
                <c:pt idx="3">
                  <c:v>5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>
              <a:latin typeface="Noto Sans KR Medium"/>
              <a:ea typeface="Noto Sans KR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>
          <a:ea typeface="Noto Sans KR Medium"/>
        </a:defRPr>
      </a:pPr>
      <a:endParaRPr>
        <a:ea typeface="Noto Sans KR Medium"/>
      </a:endParaR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활동 건수</c:v>
                </c:pt>
              </c:strCache>
            </c:strRef>
          </c:tx>
          <c:spPr>
            <a:solidFill>
              <a:srgbClr val="FF8B00"/>
            </a:solidFill>
          </c:spPr>
          <c:cat>
            <c:strRef>
              <c:f>Sheet1!$A$2:$A$6</c:f>
              <c:strCache>
                <c:ptCount val="5"/>
                <c:pt idx="0">
                  <c:v>최유진</c:v>
                </c:pt>
                <c:pt idx="1">
                  <c:v>정현우</c:v>
                </c:pt>
                <c:pt idx="2">
                  <c:v>김민준</c:v>
                </c:pt>
                <c:pt idx="3">
                  <c:v>이서연</c:v>
                </c:pt>
                <c:pt idx="4">
                  <c:v>박지훈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Noto Sans KR Medium"/>
                <a:ea typeface="Noto Sans KR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Noto Sans KR Medium"/>
                <a:ea typeface="Noto Sans KR Medium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ea typeface="Noto Sans KR Medium"/>
        </a:defRPr>
      </a:pPr>
      <a:endParaRPr lang="en-US">
        <a:ea typeface="Noto Sans KR Medium"/>
      </a:endParaRPr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2000" cy="6857657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7A1F1529-0656-9540-B6B9-76141F2F6D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586427"/>
            <a:ext cx="9939509" cy="2577948"/>
          </a:xfrm>
          <a:prstGeom prst="rect">
            <a:avLst/>
          </a:prstGeom>
        </p:spPr>
        <p:txBody>
          <a:bodyPr anchor="t">
            <a:normAutofit/>
          </a:bodyPr>
          <a:lstStyle>
            <a:lvl1pPr algn="r">
              <a:lnSpc>
                <a:spcPct val="100000"/>
              </a:lnSpc>
              <a:defRPr sz="42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KR Medium" panose="020B0600000000000000" pitchFamily="50" charset="-127"/>
                <a:ea typeface="Noto Sans KR Medium" panose="020B0600000000000000" pitchFamily="50" charset="-127"/>
                <a:cs typeface="Noto Sans Medium" panose="020B0602040504020204" pitchFamily="34" charset="0"/>
              </a:defRPr>
            </a:lvl1pPr>
          </a:lstStyle>
          <a:p>
            <a:endParaRPr kumimoji="1" lang="en-US" altLang="ko-KR" dirty="0"/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5B86C9B9-51C0-104D-B247-B5792B2E4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511423"/>
            <a:ext cx="9939510" cy="1099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600000000000000" pitchFamily="50" charset="-127"/>
                <a:ea typeface="Noto Sans KR Medium" panose="020B0600000000000000" pitchFamily="50" charset="-127"/>
                <a:cs typeface="Noto Sans Medium" panose="020B060204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64457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E9D4254-F120-D748-BB42-E2967A00B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0512" t="22490" r="1415" b="3132"/>
          <a:stretch/>
        </p:blipFill>
        <p:spPr>
          <a:xfrm>
            <a:off x="6209063" y="1586427"/>
            <a:ext cx="5810339" cy="5056743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7A1F1529-0656-9540-B6B9-76141F2F6D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135" y="1586427"/>
            <a:ext cx="10735374" cy="2577948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KR Medium" panose="020B0600000000000000" pitchFamily="50" charset="-127"/>
                <a:ea typeface="Noto Sans KR Medium" panose="020B0600000000000000" pitchFamily="50" charset="-127"/>
                <a:cs typeface="Noto Sans Medium" panose="020B0602040504020204" pitchFamily="34" charset="0"/>
              </a:defRPr>
            </a:lvl1pPr>
          </a:lstStyle>
          <a:p>
            <a:endParaRPr kumimoji="1" lang="en-US" altLang="ko-KR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5B86C9B9-51C0-104D-B247-B5792B2E4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134" y="4511423"/>
            <a:ext cx="10735375" cy="1099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600000000000000" pitchFamily="50" charset="-127"/>
                <a:ea typeface="Noto Sans KR Medium" panose="020B0600000000000000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kumimoji="1"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92" t="2280" r="2296" b="79341"/>
          <a:stretch/>
        </p:blipFill>
        <p:spPr>
          <a:xfrm>
            <a:off x="9069858" y="156519"/>
            <a:ext cx="2842056" cy="126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56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인덱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90A948E9-5E86-9244-BF00-36FED935D4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3FEB505B-8A24-FB4E-8586-D4B82148F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134" y="1081997"/>
            <a:ext cx="4025169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  <a:latin typeface="Noto Sans KR Medium" panose="020B0600000000000000" pitchFamily="50" charset="-127"/>
                <a:ea typeface="Noto Sans KR Medium" panose="020B0600000000000000" pitchFamily="50" charset="-127"/>
                <a:cs typeface="Noto Sans Medium" panose="020B0602040504020204" pitchFamily="34" charset="0"/>
              </a:defRPr>
            </a:lvl1pPr>
          </a:lstStyle>
          <a:p>
            <a:r>
              <a:rPr kumimoji="1" lang="en-US" altLang="ko-KR" dirty="0"/>
              <a:t>Contents</a:t>
            </a:r>
            <a:endParaRPr kumimoji="1" lang="ko-KR" altLang="en-US" dirty="0"/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3536103B-24CC-0348-928C-498F36591CC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554984" y="1339162"/>
            <a:ext cx="527606" cy="4710477"/>
          </a:xfrm>
          <a:prstGeom prst="rect">
            <a:avLst/>
          </a:prstGeom>
        </p:spPr>
        <p:txBody>
          <a:bodyPr lIns="90000" tIns="46800" rIns="90000" bIns="46800" anchor="t">
            <a:noAutofit/>
          </a:bodyPr>
          <a:lstStyle>
            <a:lvl1pPr marL="0" indent="0">
              <a:lnSpc>
                <a:spcPct val="150000"/>
              </a:lnSpc>
              <a:buNone/>
              <a:defRPr sz="2000" b="1">
                <a:solidFill>
                  <a:schemeClr val="bg1"/>
                </a:solidFill>
                <a:latin typeface="Noto Sans KR Black" panose="020B0A00000000000000" pitchFamily="50" charset="-127"/>
                <a:ea typeface="Noto Sans KR Black" panose="020B0A00000000000000" pitchFamily="50" charset="-127"/>
                <a:cs typeface="Noto Sans Black" panose="020B0A0204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ko-KR" dirty="0"/>
              <a:t>00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8F0D72F-F001-49A7-92BF-7C062A394F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67563" y="1339162"/>
            <a:ext cx="4441825" cy="471080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pPr lvl="0"/>
            <a:r>
              <a:rPr lang="ko-KR" altLang="en-US" dirty="0" err="1"/>
              <a:t>일이삼사오육칠팔구십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8152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5B714EE6-BF59-614C-B8E1-08EFA16669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0D6A740E-8230-5742-B416-981DE4905D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266" y="1035789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4400">
                <a:solidFill>
                  <a:schemeClr val="bg1"/>
                </a:solidFill>
                <a:latin typeface="Noto Sans KR Black" panose="020B0A00000000000000" pitchFamily="50" charset="-127"/>
                <a:ea typeface="Noto Sans KR Black" panose="020B0A00000000000000" pitchFamily="50" charset="-127"/>
                <a:cs typeface="Noto Sans Black" panose="020B0A02040504020204" pitchFamily="34" charset="0"/>
              </a:defRPr>
            </a:lvl1pPr>
          </a:lstStyle>
          <a:p>
            <a:r>
              <a:rPr kumimoji="1" lang="en-US" altLang="ko-KR" dirty="0"/>
              <a:t>01</a:t>
            </a:r>
            <a:endParaRPr kumimoji="1" lang="ko-KR" altLang="en-US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0D6A740E-8230-5742-B416-981DE4905D6F}"/>
              </a:ext>
            </a:extLst>
          </p:cNvPr>
          <p:cNvSpPr txBox="1">
            <a:spLocks/>
          </p:cNvSpPr>
          <p:nvPr userDrawn="1"/>
        </p:nvSpPr>
        <p:spPr>
          <a:xfrm>
            <a:off x="948266" y="216437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Noto Sans Black" panose="020B0A00000000000000" pitchFamily="34" charset="-128"/>
                <a:ea typeface="Noto Sans Black" panose="020B0A00000000000000" pitchFamily="34" charset="-128"/>
                <a:cs typeface="+mj-cs"/>
              </a:defRPr>
            </a:lvl1pPr>
          </a:lstStyle>
          <a:p>
            <a:endParaRPr kumimoji="1" lang="ko-KR" altLang="en-US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0D6A740E-8230-5742-B416-981DE4905D6F}"/>
              </a:ext>
            </a:extLst>
          </p:cNvPr>
          <p:cNvSpPr txBox="1">
            <a:spLocks/>
          </p:cNvSpPr>
          <p:nvPr userDrawn="1"/>
        </p:nvSpPr>
        <p:spPr>
          <a:xfrm>
            <a:off x="948266" y="169033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Noto Sans Black" panose="020B0A00000000000000" pitchFamily="34" charset="-128"/>
                <a:ea typeface="Noto Sans Black" panose="020B0A00000000000000" pitchFamily="34" charset="-128"/>
                <a:cs typeface="+mj-cs"/>
              </a:defRPr>
            </a:lvl1pPr>
          </a:lstStyle>
          <a:p>
            <a:endParaRPr kumimoji="1" lang="ko-KR" altLang="en-US" dirty="0">
              <a:latin typeface="Noto Sans Medium" panose="020B0600000000000000" pitchFamily="34" charset="-128"/>
              <a:ea typeface="Noto Sans Medium" panose="020B0600000000000000" pitchFamily="34" charset="-128"/>
            </a:endParaRPr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1247775" y="2099309"/>
            <a:ext cx="10215563" cy="17573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4400">
                <a:solidFill>
                  <a:schemeClr val="bg1"/>
                </a:solidFill>
                <a:latin typeface="Noto Sans KR Medium" panose="020B0600000000000000" pitchFamily="50" charset="-127"/>
                <a:ea typeface="Noto Sans KR Medium" panose="020B0600000000000000" pitchFamily="50" charset="-127"/>
                <a:cs typeface="Noto Sans Medium" panose="020B0602040504020204" pitchFamily="34" charset="0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4190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BA5D836-61B7-E840-8346-A85D02A3BE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5C665A60-2D0C-B946-9477-E7356F5FF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91" y="297454"/>
            <a:ext cx="10515600" cy="48474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>
                <a:solidFill>
                  <a:srgbClr val="FE9015"/>
                </a:solidFill>
                <a:latin typeface="Noto Sans KR Medium" panose="020B0600000000000000" pitchFamily="50" charset="-127"/>
                <a:ea typeface="Noto Sans KR Medium" panose="020B0600000000000000" pitchFamily="50" charset="-127"/>
                <a:cs typeface="Noto Sans Medium" panose="020B0602040504020204" pitchFamily="34" charset="0"/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9825E92B-F45E-9F4E-9F4C-3643F2AAB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9142" y="1035587"/>
            <a:ext cx="11385856" cy="505406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500000000000000" pitchFamily="50" charset="-127"/>
                <a:ea typeface="Noto Sans KR" panose="020B0500000000000000" pitchFamily="50" charset="-127"/>
                <a:cs typeface="Noto Sans" panose="020B0502040504020204" pitchFamily="34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211407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지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CEBB4FE-0489-7841-AECB-D9F5107A18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1975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136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4" r:id="rId5"/>
    <p:sldLayoutId id="2147483661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 Medium" panose="020B0600000000000000" pitchFamily="50" charset="-127"/>
          <a:ea typeface="Noto Sans KR Medium" panose="020B0600000000000000" pitchFamily="50" charset="-127"/>
          <a:cs typeface="Noto Sans Medium" panose="020B0602040504020204" pitchFamily="34" charset="0"/>
        </a:defRPr>
      </a:lvl1pPr>
    </p:titleStyle>
    <p:bodyStyle>
      <a:lvl1pPr marL="0" indent="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bg1"/>
          </a:solidFill>
          <a:latin typeface="Noto Sans KR Medium" panose="020B0600000000000000" pitchFamily="50" charset="-127"/>
          <a:ea typeface="Noto Sans KR Medium" panose="020B0600000000000000" pitchFamily="50" charset="-127"/>
          <a:cs typeface="Noto Sans Medium" panose="020B0602040504020204" pitchFamily="34" charset="0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 Medium" panose="020B0600000000000000" pitchFamily="50" charset="-127"/>
          <a:ea typeface="Noto Sans KR Medium" panose="020B0600000000000000" pitchFamily="50" charset="-127"/>
          <a:cs typeface="Noto Sans" panose="020B0502040504020204" pitchFamily="34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 Medium" panose="020B0600000000000000" pitchFamily="50" charset="-127"/>
          <a:ea typeface="Noto Sans KR Medium" panose="020B0600000000000000" pitchFamily="50" charset="-127"/>
          <a:cs typeface="Noto Sans" panose="020B0502040504020204" pitchFamily="34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 Medium" panose="020B0600000000000000" pitchFamily="50" charset="-127"/>
          <a:ea typeface="Noto Sans KR Medium" panose="020B0600000000000000" pitchFamily="50" charset="-127"/>
          <a:cs typeface="Noto Sans" panose="020B0502040504020204" pitchFamily="34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 Medium" panose="020B0600000000000000" pitchFamily="50" charset="-127"/>
          <a:ea typeface="Noto Sans KR Medium" panose="020B0600000000000000" pitchFamily="50" charset="-127"/>
          <a:cs typeface="Noto Sans" panose="020B0502040504020204" pitchFamily="34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Noto Sans KR Medium"/>
                <a:ea typeface="Noto Sans KR Medium"/>
              </a:rPr>
              <a:t>주간 영업 활동 보고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Noto Sans KR Medium"/>
                <a:ea typeface="Noto Sans KR Medium"/>
              </a:rPr>
              <a:t>2026-07-13  —  2026-07-19</a:t>
            </a:r>
          </a:p>
          <a:p>
            <a:r>
              <a:rPr>
                <a:latin typeface="Noto Sans KR Medium"/>
                <a:ea typeface="Noto Sans KR Medium"/>
              </a:rPr>
              <a:t>영업일지 25건 · 사업소 13곳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Noto Sans KR Medium"/>
                <a:ea typeface="Noto Sans KR Medium"/>
              </a:rPr>
              <a:t>01      /  주간 영업 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10642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Noto Sans KR Medium"/>
                <a:ea typeface="Noto Sans KR Medium"/>
              </a:rPr>
              <a:t>같은 영업일지를 Excel·Word·PPT에서 다시 입력하지 않습니다.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417320"/>
            <a:ext cx="2697480" cy="1143000"/>
          </a:xfrm>
          <a:prstGeom prst="roundRect">
            <a:avLst/>
          </a:prstGeom>
          <a:solidFill>
            <a:srgbClr val="FCFAF6"/>
          </a:solidFill>
          <a:ln>
            <a:solidFill>
              <a:srgbClr val="E6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417320"/>
            <a:ext cx="73152" cy="1143000"/>
          </a:xfrm>
          <a:prstGeom prst="rect">
            <a:avLst/>
          </a:prstGeom>
          <a:solidFill>
            <a:srgbClr val="FF8B00"/>
          </a:solidFill>
          <a:ln>
            <a:solidFill>
              <a:srgbClr val="FF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81912"/>
            <a:ext cx="23774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707070"/>
                </a:solidFill>
                <a:latin typeface="Noto Sans KR Medium"/>
                <a:ea typeface="Noto Sans KR Medium"/>
              </a:rPr>
              <a:t>영업활동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237744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FF8B00"/>
                </a:solidFill>
                <a:latin typeface="Noto Sans KR Medium"/>
                <a:ea typeface="Noto Sans KR Medium"/>
              </a:rPr>
              <a:t>25건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0128" y="1417320"/>
            <a:ext cx="2697480" cy="1143000"/>
          </a:xfrm>
          <a:prstGeom prst="roundRect">
            <a:avLst/>
          </a:prstGeom>
          <a:solidFill>
            <a:srgbClr val="FCFAF6"/>
          </a:solidFill>
          <a:ln>
            <a:solidFill>
              <a:srgbClr val="E6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10128" y="1417320"/>
            <a:ext cx="73152" cy="1143000"/>
          </a:xfrm>
          <a:prstGeom prst="rect">
            <a:avLst/>
          </a:prstGeom>
          <a:solidFill>
            <a:srgbClr val="A6CF00"/>
          </a:solidFill>
          <a:ln>
            <a:solidFill>
              <a:srgbClr val="A6C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1296" y="1581912"/>
            <a:ext cx="23774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707070"/>
                </a:solidFill>
                <a:latin typeface="Noto Sans KR Medium"/>
                <a:ea typeface="Noto Sans KR Medium"/>
              </a:rPr>
              <a:t>접촉 사업소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1901952"/>
            <a:ext cx="237744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A6CF00"/>
                </a:solidFill>
                <a:latin typeface="Noto Sans KR Medium"/>
                <a:ea typeface="Noto Sans KR Medium"/>
              </a:rPr>
              <a:t>13곳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417320"/>
            <a:ext cx="2697480" cy="1143000"/>
          </a:xfrm>
          <a:prstGeom prst="roundRect">
            <a:avLst/>
          </a:prstGeom>
          <a:solidFill>
            <a:srgbClr val="FCFAF6"/>
          </a:solidFill>
          <a:ln>
            <a:solidFill>
              <a:srgbClr val="E6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417320"/>
            <a:ext cx="73152" cy="1143000"/>
          </a:xfrm>
          <a:prstGeom prst="rect">
            <a:avLst/>
          </a:prstGeom>
          <a:solidFill>
            <a:srgbClr val="FF8B00"/>
          </a:solidFill>
          <a:ln>
            <a:solidFill>
              <a:srgbClr val="FF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81912"/>
            <a:ext cx="23774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707070"/>
                </a:solidFill>
                <a:latin typeface="Noto Sans KR Medium"/>
                <a:ea typeface="Noto Sans KR Medium"/>
              </a:rPr>
              <a:t>후속조치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901952"/>
            <a:ext cx="237744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FF8B00"/>
                </a:solidFill>
                <a:latin typeface="Noto Sans KR Medium"/>
                <a:ea typeface="Noto Sans KR Medium"/>
              </a:rPr>
              <a:t>13건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417320"/>
            <a:ext cx="2697480" cy="1143000"/>
          </a:xfrm>
          <a:prstGeom prst="roundRect">
            <a:avLst/>
          </a:prstGeom>
          <a:solidFill>
            <a:srgbClr val="FCFAF6"/>
          </a:solidFill>
          <a:ln>
            <a:solidFill>
              <a:srgbClr val="E6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1417320"/>
            <a:ext cx="73152" cy="1143000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3728" y="1581912"/>
            <a:ext cx="23774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707070"/>
                </a:solidFill>
                <a:latin typeface="Noto Sans KR Medium"/>
                <a:ea typeface="Noto Sans KR Medium"/>
              </a:rPr>
              <a:t>확인필요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1901952"/>
            <a:ext cx="237744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B91C1C"/>
                </a:solidFill>
                <a:latin typeface="Noto Sans KR Medium"/>
                <a:ea typeface="Noto Sans KR Medium"/>
              </a:rPr>
              <a:t>2건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475488" y="2880360"/>
          <a:ext cx="65379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75488" y="2651760"/>
            <a:ext cx="2743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F3F3F"/>
                </a:solidFill>
                <a:latin typeface="Noto Sans KR Medium"/>
                <a:ea typeface="Noto Sans KR Medium"/>
              </a:rPr>
              <a:t>일별 활동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33488" y="2880360"/>
            <a:ext cx="4389120" cy="3063240"/>
          </a:xfrm>
          <a:prstGeom prst="roundRect">
            <a:avLst/>
          </a:prstGeom>
          <a:solidFill>
            <a:srgbClr val="FCFAF6"/>
          </a:solidFill>
          <a:ln>
            <a:solidFill>
              <a:srgbClr val="E6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6096" y="3163824"/>
            <a:ext cx="36576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F3F3F"/>
                </a:solidFill>
                <a:latin typeface="Noto Sans KR Medium"/>
                <a:ea typeface="Noto Sans KR Medium"/>
              </a:rPr>
              <a:t>이번 주 포인트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26096" y="3730752"/>
            <a:ext cx="118872" cy="118872"/>
          </a:xfrm>
          <a:prstGeom prst="rect">
            <a:avLst/>
          </a:prstGeom>
          <a:solidFill>
            <a:srgbClr val="FF8B00"/>
          </a:solidFill>
          <a:ln>
            <a:solidFill>
              <a:srgbClr val="FF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82127" y="3621024"/>
            <a:ext cx="333756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3F3F3F"/>
                </a:solidFill>
                <a:latin typeface="Noto Sans KR Medium"/>
                <a:ea typeface="Noto Sans KR Medium"/>
              </a:rPr>
              <a:t>관심 품목 1위  보행기 · 9건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6096" y="4297680"/>
            <a:ext cx="118872" cy="118872"/>
          </a:xfrm>
          <a:prstGeom prst="rect">
            <a:avLst/>
          </a:prstGeom>
          <a:solidFill>
            <a:srgbClr val="A6CF00"/>
          </a:solidFill>
          <a:ln>
            <a:solidFill>
              <a:srgbClr val="A6C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82127" y="4187952"/>
            <a:ext cx="333756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F3F3F"/>
                </a:solidFill>
                <a:latin typeface="Noto Sans KR Medium"/>
                <a:ea typeface="Noto Sans KR Medium"/>
              </a:rPr>
              <a:t>주요 진행 단계  상담 중 · 7건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26096" y="4864608"/>
            <a:ext cx="118872" cy="118872"/>
          </a:xfrm>
          <a:prstGeom prst="rect">
            <a:avLst/>
          </a:prstGeom>
          <a:solidFill>
            <a:srgbClr val="FF8B00"/>
          </a:solidFill>
          <a:ln>
            <a:solidFill>
              <a:srgbClr val="FF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82127" y="4754880"/>
            <a:ext cx="333756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F3F3F"/>
                </a:solidFill>
                <a:latin typeface="Noto Sans KR Medium"/>
                <a:ea typeface="Noto Sans KR Medium"/>
              </a:rPr>
              <a:t>기한 경과 후속 조치  4건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6510528"/>
            <a:ext cx="4114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707070"/>
                </a:solidFill>
                <a:latin typeface="Noto Sans KR Medium"/>
                <a:ea typeface="Noto Sans KR Medium"/>
              </a:rPr>
              <a:t>영업관리 Excel 기반 자동 생성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707070"/>
                </a:solidFill>
                <a:latin typeface="Noto Sans KR Medium"/>
                <a:ea typeface="Noto Sans KR Medium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Noto Sans KR Medium"/>
                <a:ea typeface="Noto Sans KR Medium"/>
              </a:rPr>
              <a:t>02      /  품목 관심도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10642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Noto Sans KR Medium"/>
                <a:ea typeface="Noto Sans KR Medium"/>
              </a:rPr>
              <a:t>영업일지의 관심 품목 언급을 집계한 값이며 실제 판매 비율이 아닙니다.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89888"/>
          <a:ext cx="7543800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75320" y="1508760"/>
            <a:ext cx="3429000" cy="4434840"/>
          </a:xfrm>
          <a:prstGeom prst="roundRect">
            <a:avLst/>
          </a:prstGeom>
          <a:solidFill>
            <a:srgbClr val="FCFAF6"/>
          </a:solidFill>
          <a:ln>
            <a:solidFill>
              <a:srgbClr val="E6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7072" y="1801368"/>
            <a:ext cx="27889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F3F3F"/>
                </a:solidFill>
                <a:latin typeface="Noto Sans KR Medium"/>
                <a:ea typeface="Noto Sans KR Medium"/>
              </a:rPr>
              <a:t>상담 관심 품목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7072" y="2450592"/>
            <a:ext cx="3200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A6CF00"/>
                </a:solidFill>
                <a:latin typeface="Noto Sans KR Medium"/>
                <a:ea typeface="Noto Sans KR Medium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423160"/>
            <a:ext cx="14173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3F3F3F"/>
                </a:solidFill>
                <a:latin typeface="Noto Sans KR Medium"/>
                <a:ea typeface="Noto Sans KR Medium"/>
              </a:rPr>
              <a:t>보행기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5872" y="2423160"/>
            <a:ext cx="93268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50" b="0">
                <a:solidFill>
                  <a:srgbClr val="707070"/>
                </a:solidFill>
                <a:latin typeface="Noto Sans KR Medium"/>
                <a:ea typeface="Noto Sans KR Medium"/>
              </a:rPr>
              <a:t>9건 · 28%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3035808"/>
            <a:ext cx="3200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A6CF00"/>
                </a:solidFill>
                <a:latin typeface="Noto Sans KR Medium"/>
                <a:ea typeface="Noto Sans KR Medium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3008376"/>
            <a:ext cx="14173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F3F3F"/>
                </a:solidFill>
                <a:latin typeface="Noto Sans KR Medium"/>
                <a:ea typeface="Noto Sans KR Medium"/>
              </a:rPr>
              <a:t>안전손잡이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05872" y="3008376"/>
            <a:ext cx="93268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50" b="0">
                <a:solidFill>
                  <a:srgbClr val="707070"/>
                </a:solidFill>
                <a:latin typeface="Noto Sans KR Medium"/>
                <a:ea typeface="Noto Sans KR Medium"/>
              </a:rPr>
              <a:t>8건 · 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621024"/>
            <a:ext cx="3200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A6CF00"/>
                </a:solidFill>
                <a:latin typeface="Noto Sans KR Medium"/>
                <a:ea typeface="Noto Sans KR Medium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593591"/>
            <a:ext cx="14173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F3F3F"/>
                </a:solidFill>
                <a:latin typeface="Noto Sans KR Medium"/>
                <a:ea typeface="Noto Sans KR Medium"/>
              </a:rPr>
              <a:t>목욕의자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5872" y="3593591"/>
            <a:ext cx="93268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50" b="0">
                <a:solidFill>
                  <a:srgbClr val="707070"/>
                </a:solidFill>
                <a:latin typeface="Noto Sans KR Medium"/>
                <a:ea typeface="Noto Sans KR Medium"/>
              </a:rPr>
              <a:t>6건 · 19%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4206240"/>
            <a:ext cx="3200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A6CF00"/>
                </a:solidFill>
                <a:latin typeface="Noto Sans KR Medium"/>
                <a:ea typeface="Noto Sans KR Medium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4178808"/>
            <a:ext cx="14173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F3F3F"/>
                </a:solidFill>
                <a:latin typeface="Noto Sans KR Medium"/>
                <a:ea typeface="Noto Sans KR Medium"/>
              </a:rPr>
              <a:t>휠체어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5872" y="4178808"/>
            <a:ext cx="93268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50" b="0">
                <a:solidFill>
                  <a:srgbClr val="707070"/>
                </a:solidFill>
                <a:latin typeface="Noto Sans KR Medium"/>
                <a:ea typeface="Noto Sans KR Medium"/>
              </a:rPr>
              <a:t>5건 · 16%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4791456"/>
            <a:ext cx="3200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A6CF00"/>
                </a:solidFill>
                <a:latin typeface="Noto Sans KR Medium"/>
                <a:ea typeface="Noto Sans KR Medium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764024"/>
            <a:ext cx="14173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F3F3F"/>
                </a:solidFill>
                <a:latin typeface="Noto Sans KR Medium"/>
                <a:ea typeface="Noto Sans KR Medium"/>
              </a:rPr>
              <a:t>전동침대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5872" y="4764024"/>
            <a:ext cx="93268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50" b="0">
                <a:solidFill>
                  <a:srgbClr val="707070"/>
                </a:solidFill>
                <a:latin typeface="Noto Sans KR Medium"/>
                <a:ea typeface="Noto Sans KR Medium"/>
              </a:rPr>
              <a:t>4건 · 12%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6510528"/>
            <a:ext cx="4114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707070"/>
                </a:solidFill>
                <a:latin typeface="Noto Sans KR Medium"/>
                <a:ea typeface="Noto Sans KR Medium"/>
              </a:rPr>
              <a:t>영업관리 Excel 기반 자동 생성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707070"/>
                </a:solidFill>
                <a:latin typeface="Noto Sans KR Medium"/>
                <a:ea typeface="Noto Sans KR Medium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Noto Sans KR Medium"/>
                <a:ea typeface="Noto Sans KR Medium"/>
              </a:rPr>
              <a:t>03      /  활동 구성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10642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Noto Sans KR Medium"/>
                <a:ea typeface="Noto Sans KR Medium"/>
              </a:rPr>
              <a:t>진행 단계와 담당자별 활동을 함께 봅니다.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75488" y="1417320"/>
          <a:ext cx="5440680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5488" y="1234440"/>
            <a:ext cx="22860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F3F3F"/>
                </a:solidFill>
                <a:latin typeface="Noto Sans KR Medium"/>
                <a:ea typeface="Noto Sans KR Medium"/>
              </a:rPr>
              <a:t>진행 단계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44768" y="1481328"/>
          <a:ext cx="5440680" cy="4553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44768" y="1234440"/>
            <a:ext cx="2743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F3F3F"/>
                </a:solidFill>
                <a:latin typeface="Noto Sans KR Medium"/>
                <a:ea typeface="Noto Sans KR Medium"/>
              </a:rPr>
              <a:t>담당자별 활동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510528"/>
            <a:ext cx="4114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707070"/>
                </a:solidFill>
                <a:latin typeface="Noto Sans KR Medium"/>
                <a:ea typeface="Noto Sans KR Medium"/>
              </a:rPr>
              <a:t>영업관리 Excel 기반 자동 생성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707070"/>
                </a:solidFill>
                <a:latin typeface="Noto Sans KR Medium"/>
                <a:ea typeface="Noto Sans KR Medium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Noto Sans KR Medium"/>
                <a:ea typeface="Noto Sans KR Medium"/>
              </a:rPr>
              <a:t>04      /  다음 행동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38912" y="987552"/>
            <a:ext cx="1106424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Noto Sans KR Medium"/>
                <a:ea typeface="Noto Sans KR Medium"/>
              </a:rPr>
              <a:t>기한이 지났거나 정보가 빠진 항목은 자동으로 숨기지 않고 표시합니다.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53312"/>
            <a:ext cx="45720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F3F3F"/>
                </a:solidFill>
                <a:latin typeface="Noto Sans KR Medium"/>
                <a:ea typeface="Noto Sans KR Medium"/>
              </a:rPr>
              <a:t>후속 조치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45936" y="1353312"/>
            <a:ext cx="45720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F3F3F"/>
                </a:solidFill>
                <a:latin typeface="Noto Sans KR Medium"/>
                <a:ea typeface="Noto Sans KR Medium"/>
              </a:rPr>
              <a:t>사람이 확인할 항목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19072"/>
            <a:ext cx="5532120" cy="4343400"/>
          </a:xfrm>
          <a:prstGeom prst="roundRect">
            <a:avLst/>
          </a:prstGeom>
          <a:solidFill>
            <a:srgbClr val="FCFAF6"/>
          </a:solidFill>
          <a:ln>
            <a:solidFill>
              <a:srgbClr val="E6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27648" y="1719072"/>
            <a:ext cx="5394960" cy="4343400"/>
          </a:xfrm>
          <a:prstGeom prst="roundRect">
            <a:avLst/>
          </a:prstGeom>
          <a:solidFill>
            <a:srgbClr val="FCFAF6"/>
          </a:solidFill>
          <a:ln>
            <a:solidFill>
              <a:srgbClr val="E6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2130551"/>
            <a:ext cx="438912" cy="228600"/>
          </a:xfrm>
          <a:prstGeom prst="round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48839"/>
            <a:ext cx="438912" cy="1645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Noto Sans KR Medium"/>
                <a:ea typeface="Noto Sans KR Medium"/>
              </a:rPr>
              <a:t>지연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084831"/>
            <a:ext cx="14173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3F3F3F"/>
                </a:solidFill>
                <a:latin typeface="Noto Sans KR Medium"/>
                <a:ea typeface="Noto Sans KR Medium"/>
              </a:rPr>
              <a:t>다온복지용구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084831"/>
            <a:ext cx="19202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3F3F3F"/>
                </a:solidFill>
                <a:latin typeface="Noto Sans KR Medium"/>
                <a:ea typeface="Noto Sans KR Medium"/>
              </a:rPr>
              <a:t>제품 비교표 전달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2084831"/>
            <a:ext cx="804672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707070"/>
                </a:solidFill>
                <a:latin typeface="Noto Sans KR Medium"/>
                <a:ea typeface="Noto Sans KR Medium"/>
              </a:rPr>
              <a:t>07/15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2697479"/>
            <a:ext cx="438912" cy="228600"/>
          </a:xfrm>
          <a:prstGeom prst="round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715768"/>
            <a:ext cx="438912" cy="1645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Noto Sans KR Medium"/>
                <a:ea typeface="Noto Sans KR Medium"/>
              </a:rPr>
              <a:t>지연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2651760"/>
            <a:ext cx="14173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3F3F3F"/>
                </a:solidFill>
                <a:latin typeface="Noto Sans KR Medium"/>
                <a:ea typeface="Noto Sans KR Medium"/>
              </a:rPr>
              <a:t>소망복지용구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651760"/>
            <a:ext cx="19202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3F3F3F"/>
                </a:solidFill>
                <a:latin typeface="Noto Sans KR Medium"/>
                <a:ea typeface="Noto Sans KR Medium"/>
              </a:rPr>
              <a:t>재고 수량 회신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2651760"/>
            <a:ext cx="804672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707070"/>
                </a:solidFill>
                <a:latin typeface="Noto Sans KR Medium"/>
                <a:ea typeface="Noto Sans KR Medium"/>
              </a:rPr>
              <a:t>07/15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264407"/>
            <a:ext cx="438912" cy="228600"/>
          </a:xfrm>
          <a:prstGeom prst="round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282695"/>
            <a:ext cx="438912" cy="1645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Noto Sans KR Medium"/>
                <a:ea typeface="Noto Sans KR Medium"/>
              </a:rPr>
              <a:t>지연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3218687"/>
            <a:ext cx="14173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3F3F3F"/>
                </a:solidFill>
                <a:latin typeface="Noto Sans KR Medium"/>
                <a:ea typeface="Noto Sans KR Medium"/>
              </a:rPr>
              <a:t>온누리복지센터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3218687"/>
            <a:ext cx="19202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3F3F3F"/>
                </a:solidFill>
                <a:latin typeface="Noto Sans KR Medium"/>
                <a:ea typeface="Noto Sans KR Medium"/>
              </a:rPr>
              <a:t>수량별 견적 발송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8888" y="3218687"/>
            <a:ext cx="804672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707070"/>
                </a:solidFill>
                <a:latin typeface="Noto Sans KR Medium"/>
                <a:ea typeface="Noto Sans KR Medium"/>
              </a:rPr>
              <a:t>07/17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831335"/>
            <a:ext cx="438912" cy="228600"/>
          </a:xfrm>
          <a:prstGeom prst="round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849624"/>
            <a:ext cx="438912" cy="1645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Noto Sans KR Medium"/>
                <a:ea typeface="Noto Sans KR Medium"/>
              </a:rPr>
              <a:t>지연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3785615"/>
            <a:ext cx="14173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3F3F3F"/>
                </a:solidFill>
                <a:latin typeface="Noto Sans KR Medium"/>
                <a:ea typeface="Noto Sans KR Medium"/>
              </a:rPr>
              <a:t>행복 복지용구센터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3785615"/>
            <a:ext cx="19202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3F3F3F"/>
                </a:solidFill>
                <a:latin typeface="Noto Sans KR Medium"/>
                <a:ea typeface="Noto Sans KR Medium"/>
              </a:rPr>
              <a:t>가격 조건 회신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888" y="3785615"/>
            <a:ext cx="804672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707070"/>
                </a:solidFill>
                <a:latin typeface="Noto Sans KR Medium"/>
                <a:ea typeface="Noto Sans KR Medium"/>
              </a:rPr>
              <a:t>07/17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4398264"/>
            <a:ext cx="438912" cy="228600"/>
          </a:xfrm>
          <a:prstGeom prst="roundRect">
            <a:avLst/>
          </a:prstGeom>
          <a:solidFill>
            <a:srgbClr val="FF8B00"/>
          </a:solidFill>
          <a:ln>
            <a:solidFill>
              <a:srgbClr val="FF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416552"/>
            <a:ext cx="438912" cy="1645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Noto Sans KR Medium"/>
                <a:ea typeface="Noto Sans KR Medium"/>
              </a:rPr>
              <a:t>예정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3312" y="4352544"/>
            <a:ext cx="14173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3F3F3F"/>
                </a:solidFill>
                <a:latin typeface="Noto Sans KR Medium"/>
                <a:ea typeface="Noto Sans KR Medium"/>
              </a:rPr>
              <a:t>푸른케어사업소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4352544"/>
            <a:ext cx="19202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3F3F3F"/>
                </a:solidFill>
                <a:latin typeface="Noto Sans KR Medium"/>
                <a:ea typeface="Noto Sans KR Medium"/>
              </a:rPr>
              <a:t>현장 설치 일정 협의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18888" y="4352544"/>
            <a:ext cx="804672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707070"/>
                </a:solidFill>
                <a:latin typeface="Noto Sans KR Medium"/>
                <a:ea typeface="Noto Sans KR Medium"/>
              </a:rPr>
              <a:t>07/20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" y="4965192"/>
            <a:ext cx="438912" cy="228600"/>
          </a:xfrm>
          <a:prstGeom prst="roundRect">
            <a:avLst/>
          </a:prstGeom>
          <a:solidFill>
            <a:srgbClr val="FF8B00"/>
          </a:solidFill>
          <a:ln>
            <a:solidFill>
              <a:srgbClr val="FF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4983480"/>
            <a:ext cx="438912" cy="1645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Noto Sans KR Medium"/>
                <a:ea typeface="Noto Sans KR Medium"/>
              </a:rPr>
              <a:t>예정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3312" y="4919472"/>
            <a:ext cx="14173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3F3F3F"/>
                </a:solidFill>
                <a:latin typeface="Noto Sans KR Medium"/>
                <a:ea typeface="Noto Sans KR Medium"/>
              </a:rPr>
              <a:t>해든복지용구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4919472"/>
            <a:ext cx="19202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3F3F3F"/>
                </a:solidFill>
                <a:latin typeface="Noto Sans KR Medium"/>
                <a:ea typeface="Noto Sans KR Medium"/>
              </a:rPr>
              <a:t>견적 피드백 확인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18888" y="4919472"/>
            <a:ext cx="804672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707070"/>
                </a:solidFill>
                <a:latin typeface="Noto Sans KR Medium"/>
                <a:ea typeface="Noto Sans KR Medium"/>
              </a:rPr>
              <a:t>07/20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56832" y="2112264"/>
            <a:ext cx="109728" cy="109728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31152" y="2057400"/>
            <a:ext cx="98755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B91C1C"/>
                </a:solidFill>
                <a:latin typeface="Noto Sans KR Medium"/>
                <a:ea typeface="Noto Sans KR Medium"/>
              </a:rPr>
              <a:t>유사사업소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0416" y="2057400"/>
            <a:ext cx="13258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3F3F3F"/>
                </a:solidFill>
                <a:latin typeface="Noto Sans KR Medium"/>
                <a:ea typeface="Noto Sans KR Medium"/>
              </a:rPr>
              <a:t>행복 복지용구센터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17152" y="2057400"/>
            <a:ext cx="2029968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F3F3F"/>
                </a:solidFill>
                <a:latin typeface="Noto Sans KR Medium"/>
                <a:ea typeface="Noto Sans KR Medium"/>
              </a:rPr>
              <a:t>기존 '행복복지용구'와 이름이 유사함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56832" y="2697480"/>
            <a:ext cx="109728" cy="109728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31152" y="2642616"/>
            <a:ext cx="987552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B91C1C"/>
                </a:solidFill>
                <a:latin typeface="Noto Sans KR Medium"/>
                <a:ea typeface="Noto Sans KR Medium"/>
              </a:rPr>
              <a:t>예정일누락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0416" y="2642616"/>
            <a:ext cx="13258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3F3F3F"/>
                </a:solidFill>
                <a:latin typeface="Noto Sans KR Medium"/>
                <a:ea typeface="Noto Sans KR Medium"/>
              </a:rPr>
              <a:t>미래복지용구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17152" y="2642616"/>
            <a:ext cx="2029968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3F3F3F"/>
                </a:solidFill>
                <a:latin typeface="Noto Sans KR Medium"/>
                <a:ea typeface="Noto Sans KR Medium"/>
              </a:rPr>
              <a:t>'설치 사례 전달'의 예정일 없음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172200"/>
            <a:ext cx="106984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8B00"/>
                </a:solidFill>
                <a:latin typeface="Noto Sans KR Medium"/>
                <a:ea typeface="Noto Sans KR Medium"/>
              </a:rPr>
              <a:t>영업일지 25건 → Excel 관리대장 · Word 상세보고 · PPT 주간보고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" y="6510528"/>
            <a:ext cx="4114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707070"/>
                </a:solidFill>
                <a:latin typeface="Noto Sans KR Medium"/>
                <a:ea typeface="Noto Sans KR Medium"/>
              </a:rPr>
              <a:t>영업관리 Excel 기반 자동 생성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707070"/>
                </a:solidFill>
                <a:latin typeface="Noto Sans KR Medium"/>
                <a:ea typeface="Noto Sans KR Medium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000" dirty="0" err="1" smtClean="0">
            <a:solidFill>
              <a:schemeClr val="bg1"/>
            </a:solidFill>
            <a:latin typeface="Noto Sans KR Medium" panose="020B0600000000000000" pitchFamily="50" charset="-127"/>
            <a:ea typeface="Noto Sans KR Medium" panose="020B0600000000000000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38</Words>
  <Application>Microsoft Office PowerPoint</Application>
  <PresentationFormat>와이드스크린</PresentationFormat>
  <Paragraphs>17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Noto Sans KR Medium</vt:lpstr>
      <vt:lpstr>Noto Sans Black</vt:lpstr>
      <vt:lpstr>Noto Sans Medium</vt:lpstr>
      <vt:lpstr>Noto Sans KR Black</vt:lpstr>
      <vt:lpstr>Noto Sans KR</vt:lpstr>
      <vt:lpstr>Arial</vt:lpstr>
      <vt:lpstr>Office 테마</vt:lpstr>
      <vt:lpstr>THKC 2022년 하반기 Wrap up</vt:lpstr>
      <vt:lpstr>THKC 2022년 하반기 Wrap up</vt:lpstr>
      <vt:lpstr>Contents</vt:lpstr>
      <vt:lpstr>02</vt:lpstr>
      <vt:lpstr>02 하반기 / MKT Wrap up 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THKC 2022년 하반기 Wrap up</dc:title>
  <dc:creator>THKC</dc:creator>
  <cp:lastModifiedBy>user</cp:lastModifiedBy>
  <cp:revision>14</cp:revision>
  <dcterms:created xsi:type="dcterms:W3CDTF">2022-12-30T02:34:35Z</dcterms:created>
  <dcterms:modified xsi:type="dcterms:W3CDTF">2023-01-16T05:29:30Z</dcterms:modified>
</cp:coreProperties>
</file>